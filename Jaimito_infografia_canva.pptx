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640080"/>
            <a:ext cx="11064240" cy="5303520"/>
          </a:xfrm>
          <a:prstGeom prst="roundRect">
            <a:avLst/>
          </a:prstGeom>
          <a:solidFill>
            <a:srgbClr val="D9EE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4A90E2"/>
                </a:solidFill>
              </a:rPr>
              <a:t>Como funciona Jaimito?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F3A45"/>
                </a:solidFill>
              </a:rPr>
              <a:t>El asistente del curso de IA aplicada que ayuda a preparar la web del proyecto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128016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1965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6B37E"/>
                </a:solidFill>
              </a:rPr>
              <a:t>JAIMITO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2F3A45"/>
                </a:solidFill>
              </a:rPr>
              <a:t>Bot de Telegram para ayudar al alumnado paso a paso.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6B37E"/>
                </a:solidFill>
              </a:rPr>
              <a:t>Mensaje clave: Jaimito no sustituye al profesor. Ayuda a avanzar con claridad.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A90E2"/>
                </a:solidFill>
              </a:rPr>
              <a:t>Flujo principal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920240"/>
            <a:ext cx="1737360" cy="1417320"/>
          </a:xfrm>
          <a:prstGeom prst="roundRect">
            <a:avLst/>
          </a:prstGeom>
          <a:solidFill>
            <a:srgbClr val="D9EE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3A45"/>
                </a:solidFill>
              </a:rPr>
              <a:t>Alumno en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El alumno escribe su duda y pide ayuda con comandos sencillos.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920240"/>
            <a:ext cx="1737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3A45"/>
                </a:solidFill>
              </a:rPr>
              <a:t>Jaimito 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3172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Lee el mensaje y decide si responde directo o si consulta 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1737360" cy="1417320"/>
          </a:xfrm>
          <a:prstGeom prst="roundRect">
            <a:avLst/>
          </a:prstGeom>
          <a:solidFill>
            <a:srgbClr val="D9EE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3A45"/>
                </a:solidFill>
              </a:rPr>
              <a:t>Railway 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Servidor en la nube que mantiene el bot encendido.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1737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3A45"/>
                </a:solidFill>
              </a:rP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Caja con todo lo necesario para que funcione igual siempre.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920240"/>
            <a:ext cx="1737360" cy="1417320"/>
          </a:xfrm>
          <a:prstGeom prst="roundRect">
            <a:avLst/>
          </a:prstGeom>
          <a:solidFill>
            <a:srgbClr val="D9EE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3A45"/>
                </a:solidFill>
              </a:rPr>
              <a:t>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Genera respuestas cuando hace falta una ayuda mas elaborada.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1920240"/>
            <a:ext cx="1737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20116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3A45"/>
                </a:solidFill>
              </a:rPr>
              <a:t>Respuesta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33172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El alumno recibe orientacion practica en Telegram.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42316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6B37E"/>
                </a:solidFill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42316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6B37E"/>
                </a:solidFill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42316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6B37E"/>
                </a:solidFill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42316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6B37E"/>
                </a:solidFill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42316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6B37E"/>
                </a:solidFill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54880"/>
            <a:ext cx="10789920" cy="1280160"/>
          </a:xfrm>
          <a:prstGeom prst="roundRect">
            <a:avLst/>
          </a:prstGeom>
          <a:solidFill>
            <a:srgbClr val="EEF3F7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663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5"/>
                </a:solidFill>
              </a:rPr>
              <a:t>Ejemplos de uso: /pregunta Como empiezo mi web?   /web Quiero hacer una idea sobre una tienda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A90E2"/>
                </a:solidFill>
              </a:rPr>
              <a:t>Por dentro de Jaimito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F3A45"/>
                </a:solidFill>
              </a:rPr>
              <a:t>Cuatro archivos clave explicados con lenguaje sencillo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212080" cy="2057400"/>
          </a:xfrm>
          <a:prstGeom prst="roundRect">
            <a:avLst/>
          </a:prstGeom>
          <a:solidFill>
            <a:srgbClr val="EEF3F7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</a:rPr>
              <a:t>config.py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F3A45"/>
                </a:solidFill>
              </a:rPr>
              <a:t>Prepara la configuracion del bot. Lee claves y decide el modelo de 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4663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openai_model=os.getenv("OPENAI_MODEL", DEFAULT_MODEL)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057400"/>
          </a:xfrm>
          <a:prstGeom prst="roundRect">
            <a:avLst/>
          </a:prstGeom>
          <a:solidFill>
            <a:srgbClr val="EEF3F7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</a:rPr>
              <a:t>jaimito_bot.py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F3A45"/>
                </a:solidFill>
              </a:rPr>
              <a:t>Es el archivo principal. Recibe comandos, llama a OpenAI y envia respuestas.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06040"/>
            <a:ext cx="4663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72491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application.add_handler(CommandHandler("web", web))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5212080" cy="2057400"/>
          </a:xfrm>
          <a:prstGeom prst="roundRect">
            <a:avLst/>
          </a:prstGeom>
          <a:solidFill>
            <a:srgbClr val="EEF3F7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</a:rPr>
              <a:t>logging_utils.py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F3A45"/>
                </a:solidFill>
              </a:rPr>
              <a:t>Guarda registros internos para revisar errores y entender que paso.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4663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4807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def new_trace_id() -&gt; str: return uuid4().hex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94760"/>
            <a:ext cx="5212080" cy="2057400"/>
          </a:xfrm>
          <a:prstGeom prst="roundRect">
            <a:avLst/>
          </a:prstGeom>
          <a:solidFill>
            <a:srgbClr val="EEF3F7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</a:rPr>
              <a:t>prompts.py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F3A45"/>
                </a:solidFill>
              </a:rPr>
              <a:t>Define como debe hablar Jaimito y que tipo de ayuda debe dar.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029200"/>
            <a:ext cx="4663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148072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F3A45"/>
                </a:solidFill>
              </a:rPr>
              <a:t>SYSTEM_PROMPT = "Eres Jaimito..."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A90E2"/>
                </a:solidFill>
              </a:rPr>
              <a:t>Que puede hacer Jaimito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834640" cy="1645920"/>
          </a:xfrm>
          <a:prstGeom prst="roundRect">
            <a:avLst/>
          </a:prstGeom>
          <a:solidFill>
            <a:srgbClr val="D9EE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3533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B37E"/>
                </a:solidFill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53312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5"/>
                </a:solidFill>
              </a:rPr>
              <a:t>Ayudar a elegir una idea de proyecto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188720"/>
            <a:ext cx="2834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5112" y="13533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B37E"/>
                </a:solidFill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353312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5"/>
                </a:solidFill>
              </a:rPr>
              <a:t>Explicar las secciones de la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188720"/>
            <a:ext cx="2834640" cy="1645920"/>
          </a:xfrm>
          <a:prstGeom prst="roundRect">
            <a:avLst/>
          </a:prstGeom>
          <a:solidFill>
            <a:srgbClr val="D9EE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3533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B37E"/>
                </a:solidFill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353312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5"/>
                </a:solidFill>
              </a:rPr>
              <a:t>Redactar textos claros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2834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393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B37E"/>
                </a:solidFill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39312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5"/>
                </a:solidFill>
              </a:rPr>
              <a:t>Dar una plantilla de web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474720"/>
            <a:ext cx="2834640" cy="1645920"/>
          </a:xfrm>
          <a:prstGeom prst="roundRect">
            <a:avLst/>
          </a:prstGeom>
          <a:solidFill>
            <a:srgbClr val="D9EE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6393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B37E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39312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5"/>
                </a:solidFill>
              </a:rPr>
              <a:t>Explicar la rubrica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474720"/>
            <a:ext cx="2834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36393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B37E"/>
                </a:solidFill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639312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5"/>
                </a:solidFill>
              </a:rPr>
              <a:t>Resolver dudas durante el curso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A90E2"/>
                </a:solidFill>
              </a:rPr>
              <a:t>Como se controla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5486400" cy="4389120"/>
          </a:xfrm>
          <a:prstGeom prst="roundRect">
            <a:avLst/>
          </a:prstGeom>
          <a:solidFill>
            <a:srgbClr val="EEF3F7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>
                <a:solidFill>
                  <a:srgbClr val="2F3A45"/>
                </a:solidFill>
              </a:rPr>
              <a:t>Solo responde a comandos o menciones.</a:t>
            </a:r>
          </a:p>
          <a:p>
            <a:pPr/>
            <a:r>
              <a:rPr sz="1800">
                <a:solidFill>
                  <a:srgbClr val="2F3A45"/>
                </a:solidFill>
              </a:rPr>
              <a:t>No responde a todos los mensajes del grupo.</a:t>
            </a:r>
          </a:p>
          <a:p>
            <a:pPr/>
            <a:r>
              <a:rPr sz="1800">
                <a:solidFill>
                  <a:srgbClr val="2F3A45"/>
                </a:solidFill>
              </a:rPr>
              <a:t>Las claves se guardan como variables privadas.</a:t>
            </a:r>
          </a:p>
          <a:p>
            <a:pPr/>
            <a:r>
              <a:rPr sz="1800">
                <a:solidFill>
                  <a:srgbClr val="2F3A45"/>
                </a:solidFill>
              </a:rPr>
              <a:t>Los errores se revisan en registros internos.</a:t>
            </a:r>
          </a:p>
          <a:p>
            <a:pPr/>
            <a:r>
              <a:rPr sz="1800">
                <a:solidFill>
                  <a:srgbClr val="2F3A45"/>
                </a:solidFill>
              </a:rPr>
              <a:t>No se muestra informacion tecnica al alumnado.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4937760" cy="4389120"/>
          </a:xfrm>
          <a:prstGeom prst="roundRect">
            <a:avLst/>
          </a:prstGeom>
          <a:solidFill>
            <a:srgbClr val="D9EEFF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41732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6B37E"/>
                </a:solidFill>
              </a:rPr>
              <a:t>Idea sencilla para explicar esto en clase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96596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F3A45"/>
                </a:solidFill>
              </a:rPr>
              <a:t>Jaimito ayuda, pero no habla cuando no toca. Ademas, protege la parte interna para que el alumnado solo vea una respuesta clara y util.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143000"/>
            <a:ext cx="10241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36B37E"/>
                </a:solidFill>
              </a:rPr>
              <a:t>Mensaje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4A90E2"/>
                </a:solidFill>
              </a:rPr>
              <a:t>Jaimito no sustituye al profesor: ayuda al alumnado a avanzar paso a paso con su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114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2F3A45"/>
                </a:solidFill>
              </a:rPr>
              <a:t>Presentacion editable para seguir ajustando en PowerPoint o subirla despues a Canva.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